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1013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1764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report: /mnt/data/Phase 3 -report- Data Privacy Concerns on Social Media Exploring How User Information Is Collected Used and Shared (4).pdf
- Theme adapted from the uploaded screenshot image.
- Content based on the report title/abstract and references [1], [2], [8], [9].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report: /mnt/data/Phase 3 -report- Data Privacy Concerns on Social Media Exploring How User Information Is Collected Used and Shared (4).pdf
- Based on report abstract and references [1], [2], [8], [9].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report: /mnt/data/Phase 3 -report- Data Privacy Concerns on Social Media Exploring How User Information Is Collected Used and Shared (4).pdf
- Based on report introduction and research problem sections; cites [1], [3], [6], [7].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report: /mnt/data/Phase 3 -report- Data Privacy Concerns on Social Media Exploring How User Information Is Collected Used and Shared (4).pdf
- Based on report objectives and methodology rationale; cites [1], [2], [3], [4], [5], [7], [8], [9].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report: /mnt/data/Phase 3 -report- Data Privacy Concerns on Social Media Exploring How User Information Is Collected Used and Shared (4).pdf
- Based on methodology and implementation sections; cites [1], [2], [4], [5], [7], [9].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report: /mnt/data/Phase 3 -report- Data Privacy Concerns on Social Media Exploring How User Information Is Collected Used and Shared (4).pdf
- Based on the platform-wise comparative findings table and discussion in the report; cites [1], [5], [9].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report: /mnt/data/Phase 3 -report- Data Privacy Concerns on Social Media Exploring How User Information Is Collected Used and Shared (4).pdf
- Based on the privacy and cybersecurity risks section and risk table; cites [3], [5], [6], [7], [9].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report: /mnt/data/Phase 3 -report- Data Privacy Concerns on Social Media Exploring How User Information Is Collected Used and Shared (4).pdf
- Based on results/analysis, discussion and evaluation of current safeguards; cites [1], [2], [3], [5], [6], [8], [9].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report: /mnt/data/Phase 3 -report- Data Privacy Concerns on Social Media Exploring How User Information Is Collected Used and Shared (4).pdf
- Based on recommendations including data minimization, user control, privacy by design and algorithmic transparency; cites [3], [4], [5].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Uploaded report: /mnt/data/Phase 3 -report- Data Privacy Concerns on Social Media Exploring How User Information Is Collected Used and Shared (4).pdf
- Based on the conclusion section and report references [1]-[9].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61F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3142C"/>
          </a:solidFill>
          <a:ln w="12700">
            <a:solidFill>
              <a:srgbClr val="0314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02920" y="6016752"/>
            <a:ext cx="10789920" cy="0"/>
          </a:xfrm>
          <a:prstGeom prst="line">
            <a:avLst/>
          </a:prstGeom>
          <a:noFill/>
          <a:ln w="12700">
            <a:solidFill>
              <a:srgbClr val="3652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927080" y="274320"/>
            <a:ext cx="502920" cy="30175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338328"/>
            <a:ext cx="23774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338328"/>
            <a:ext cx="23774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26/science.aaa1465" TargetMode="External"/><Relationship Id="rId7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js.aaai.org/index.php/ICWSM/article/view/14520" TargetMode="External"/><Relationship Id="rId5" Type="http://schemas.openxmlformats.org/officeDocument/2006/relationships/hyperlink" Target="https://leginfo.legislature.ca.gov/faces/billTextClient.xhtml?bill_id=201720180AB375" TargetMode="External"/><Relationship Id="rId4" Type="http://schemas.openxmlformats.org/officeDocument/2006/relationships/hyperlink" Target="https://eur-lex.europa.eu/eli/reg/2016/679/oj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26/science.aaa1465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ginfo.legislature.ca.gov/faces/billTextClient.xhtml?bill_id=201720180AB375" TargetMode="External"/><Relationship Id="rId5" Type="http://schemas.openxmlformats.org/officeDocument/2006/relationships/hyperlink" Target="https://eur-lex.europa.eu/eli/reg/2016/679/oj" TargetMode="External"/><Relationship Id="rId4" Type="http://schemas.openxmlformats.org/officeDocument/2006/relationships/hyperlink" Target="https://ojs.aaai.org/index.php/ICWSM/article/view/14520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26/science.aaa1465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cholarship.law.upenn.edu/penn_law_review/vol154/iss3/3/" TargetMode="External"/><Relationship Id="rId5" Type="http://schemas.openxmlformats.org/officeDocument/2006/relationships/hyperlink" Target="https://www.pewresearch.org/internet/2019/11/15/americans-and-privacy-concerned-confused-and-feeling-lack-of-control-over-their-personal-information/" TargetMode="External"/><Relationship Id="rId4" Type="http://schemas.openxmlformats.org/officeDocument/2006/relationships/hyperlink" Target="https://www.ftc.gov/business-guidance/resources/protecting-personal-information-guide-business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eur-lex.europa.eu/eli/reg/2016/679/oj" TargetMode="External"/><Relationship Id="rId3" Type="http://schemas.openxmlformats.org/officeDocument/2006/relationships/hyperlink" Target="https://doi.org/10.1126/science.aaa1465" TargetMode="External"/><Relationship Id="rId7" Type="http://schemas.openxmlformats.org/officeDocument/2006/relationships/hyperlink" Target="https://scholarship.law.upenn.edu/penn_law_review/vol154/iss3/3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tc.gov/business-guidance/resources/protecting-personal-information-guide-business" TargetMode="External"/><Relationship Id="rId5" Type="http://schemas.openxmlformats.org/officeDocument/2006/relationships/hyperlink" Target="https://ojs.aaai.org/index.php/ICWSM/article/view/14520" TargetMode="External"/><Relationship Id="rId10" Type="http://schemas.openxmlformats.org/officeDocument/2006/relationships/hyperlink" Target="https://nvlpubs.nist.gov/nistpubs/CSWP/NIST.CSWP.01162020.pdf" TargetMode="External"/><Relationship Id="rId4" Type="http://schemas.openxmlformats.org/officeDocument/2006/relationships/hyperlink" Target="https://web-archive.oecd.org/pdfViewer?path=/2013-09-05/247484-oecd_privacy_framework.pdf" TargetMode="External"/><Relationship Id="rId9" Type="http://schemas.openxmlformats.org/officeDocument/2006/relationships/hyperlink" Target="https://leginfo.legislature.ca.gov/faces/billTextClient.xhtml?bill_id=201720180AB375" TargetMode="Externa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scholarship.law.upenn.edu/penn_law_review/vol154/iss3/3/" TargetMode="External"/><Relationship Id="rId3" Type="http://schemas.openxmlformats.org/officeDocument/2006/relationships/hyperlink" Target="https://ojs.aaai.org/index.php/ICWSM/article/view/14520" TargetMode="External"/><Relationship Id="rId7" Type="http://schemas.openxmlformats.org/officeDocument/2006/relationships/hyperlink" Target="https://web-archive.oecd.org/pdfViewer?path=/2013-09-05/247484-oecd_privacy_framework.pdf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nvlpubs.nist.gov/nistpubs/CSWP/NIST.CSWP.01162020.pdf" TargetMode="External"/><Relationship Id="rId5" Type="http://schemas.openxmlformats.org/officeDocument/2006/relationships/hyperlink" Target="https://eur-lex.europa.eu/eli/reg/2016/679/oj" TargetMode="External"/><Relationship Id="rId4" Type="http://schemas.openxmlformats.org/officeDocument/2006/relationships/hyperlink" Target="https://doi.org/10.1126/science.aaa1465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26/science.aaa1465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eb-archive.oecd.org/pdfViewer?path=/2013-09-05/247484-oecd_privacy_framework.pdf" TargetMode="External"/><Relationship Id="rId4" Type="http://schemas.openxmlformats.org/officeDocument/2006/relationships/hyperlink" Target="https://ojs.aaai.org/index.php/ICWSM/article/view/14520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tc.gov/business-guidance/resources/protecting-personal-information-guide-business" TargetMode="External"/><Relationship Id="rId7" Type="http://schemas.openxmlformats.org/officeDocument/2006/relationships/hyperlink" Target="https://www.pewresearch.org/internet/2019/11/15/americans-and-privacy-concerned-confused-and-feeling-lack-of-control-over-their-personal-information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cholarship.law.upenn.edu/penn_law_review/vol154/iss3/3/" TargetMode="External"/><Relationship Id="rId5" Type="http://schemas.openxmlformats.org/officeDocument/2006/relationships/hyperlink" Target="https://web-archive.oecd.org/pdfViewer?path=/2013-09-05/247484-oecd_privacy_framework.pdf" TargetMode="External"/><Relationship Id="rId4" Type="http://schemas.openxmlformats.org/officeDocument/2006/relationships/hyperlink" Target="https://ojs.aaai.org/index.php/ICWSM/article/view/14520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eb-archive.oecd.org/pdfViewer?path=/2013-09-05/247484-oecd_privacy_framework.pdf" TargetMode="External"/><Relationship Id="rId3" Type="http://schemas.openxmlformats.org/officeDocument/2006/relationships/hyperlink" Target="https://doi.org/10.1126/science.aaa1465" TargetMode="External"/><Relationship Id="rId7" Type="http://schemas.openxmlformats.org/officeDocument/2006/relationships/hyperlink" Target="https://eur-lex.europa.eu/eli/reg/2016/679/oj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ewresearch.org/internet/2019/11/15/americans-and-privacy-concerned-confused-and-feeling-lack-of-control-over-their-personal-information/" TargetMode="External"/><Relationship Id="rId5" Type="http://schemas.openxmlformats.org/officeDocument/2006/relationships/hyperlink" Target="https://ojs.aaai.org/index.php/ICWSM/article/view/14520" TargetMode="External"/><Relationship Id="rId4" Type="http://schemas.openxmlformats.org/officeDocument/2006/relationships/hyperlink" Target="https://www.ftc.gov/business-guidance/resources/protecting-personal-information-guide-business" TargetMode="External"/><Relationship Id="rId9" Type="http://schemas.openxmlformats.org/officeDocument/2006/relationships/hyperlink" Target="https://leginfo.legislature.ca.gov/faces/billTextClient.xhtml?bill_id=201720180AB375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eb-archive.oecd.org/pdfViewer?path=/2013-09-05/247484-oecd_privacy_framework.pdf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nvlpubs.nist.gov/nistpubs/CSWP/NIST.CSWP.01162020.pdf" TargetMode="External"/><Relationship Id="rId4" Type="http://schemas.openxmlformats.org/officeDocument/2006/relationships/hyperlink" Target="https://www.ftc.gov/business-guidance/resources/protecting-personal-information-guide-business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tc.gov/business-guidance/resources/protecting-personal-information-guide-business" TargetMode="External"/><Relationship Id="rId3" Type="http://schemas.openxmlformats.org/officeDocument/2006/relationships/hyperlink" Target="https://doi.org/10.1126/science.aaa1465" TargetMode="External"/><Relationship Id="rId7" Type="http://schemas.openxmlformats.org/officeDocument/2006/relationships/hyperlink" Target="https://nvlpubs.nist.gov/nistpubs/CSWP/NIST.CSWP.01162020.pdf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ur-lex.europa.eu/eli/reg/2016/679/oj" TargetMode="External"/><Relationship Id="rId11" Type="http://schemas.openxmlformats.org/officeDocument/2006/relationships/hyperlink" Target="https://ojs.aaai.org/index.php/ICWSM/article/view/14520" TargetMode="External"/><Relationship Id="rId5" Type="http://schemas.openxmlformats.org/officeDocument/2006/relationships/hyperlink" Target="https://scholarship.law.upenn.edu/penn_law_review/vol154/iss3/3/" TargetMode="External"/><Relationship Id="rId10" Type="http://schemas.openxmlformats.org/officeDocument/2006/relationships/hyperlink" Target="https://leginfo.legislature.ca.gov/faces/billTextClient.xhtml?bill_id=201720180AB375" TargetMode="External"/><Relationship Id="rId4" Type="http://schemas.openxmlformats.org/officeDocument/2006/relationships/hyperlink" Target="https://www.pewresearch.org/internet/2019/11/15/americans-and-privacy-concerned-confused-and-feeling-lack-of-control-over-their-personal-information/" TargetMode="External"/><Relationship Id="rId9" Type="http://schemas.openxmlformats.org/officeDocument/2006/relationships/hyperlink" Target="https://web-archive.oecd.org/pdfViewer?path=/2013-09-05/247484-oecd_privacy_framework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F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987552"/>
            <a:ext cx="4754880" cy="4526280"/>
          </a:xfrm>
          <a:prstGeom prst="rect">
            <a:avLst/>
          </a:prstGeom>
          <a:solidFill>
            <a:srgbClr val="03142C">
              <a:alpha val="90000"/>
            </a:srgbClr>
          </a:solidFill>
          <a:ln w="12700">
            <a:solidFill>
              <a:srgbClr val="0314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49808" y="18745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Privacy Concerns</a:t>
            </a:r>
            <a:endParaRPr lang="en-US" sz="2300" dirty="0"/>
          </a:p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 Social Media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768096" y="2880360"/>
            <a:ext cx="1234440" cy="45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68096" y="3063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</a:rPr>
              <a:t>Exploring how user information is collected, used and shared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68096" y="4709160"/>
            <a:ext cx="4389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COSC3796 IT Security and Privacy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Professor: Yazan Otoum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</a:rPr>
              <a:t>Group Members: Achint Pal Singh, Arjun, Harleen Kaur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68096" y="56235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1F0"/>
                </a:solidFill>
              </a:rPr>
              <a:t>Inline IEEE citations included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68096" y="581558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</a:rPr>
              <a:t>Key references: </a:t>
            </a:r>
            <a:r>
              <a:rPr lang="en-US" sz="95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95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95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[8]</a:t>
            </a: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95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338328"/>
            <a:ext cx="23774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1"/>
              <a:t>1</a:t>
            </a:fld>
            <a:endParaRPr lang="en-US"/>
          </a:p>
        </p:txBody>
      </p:sp>
      <p:pic>
        <p:nvPicPr>
          <p:cNvPr id="1026" name="Picture 2" descr="Facebook Snapchat Instagram Logo">
            <a:extLst>
              <a:ext uri="{FF2B5EF4-FFF2-40B4-BE49-F238E27FC236}">
                <a16:creationId xmlns:a16="http://schemas.microsoft.com/office/drawing/2014/main" id="{8CCD1562-16F4-7DD2-33ED-A4744C78F7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2510" y="1173289"/>
            <a:ext cx="5690850" cy="37919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Abstract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66928" y="850392"/>
            <a:ext cx="1325880" cy="45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</a:rPr>
              <a:t>Study overview and why this topic matters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503920" y="1627632"/>
            <a:ext cx="2286000" cy="3273552"/>
          </a:xfrm>
          <a:prstGeom prst="roundRect">
            <a:avLst>
              <a:gd name="adj" fmla="val 3200"/>
            </a:avLst>
          </a:prstGeom>
          <a:solidFill>
            <a:srgbClr val="102E59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503920" y="1627632"/>
            <a:ext cx="228600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31936" y="1737360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Core takeaway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0" y="1901952"/>
            <a:ext cx="18288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Privacy risk on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social media is not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just about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breaches. It is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driven by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continuous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tracking, opaque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profiling and data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sharing built into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platform business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models 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857232" y="44988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5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1389888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dirty="0">
                <a:solidFill>
                  <a:srgbClr val="FFFFFF"/>
                </a:solidFill>
              </a:rPr>
              <a:t>•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24128" y="1389888"/>
            <a:ext cx="6839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study examines how social media platforms collect, process and share user data </a:t>
            </a:r>
            <a:r>
              <a:rPr lang="en-US" sz="17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822960" y="1901952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dirty="0">
                <a:solidFill>
                  <a:srgbClr val="FFFFFF"/>
                </a:solidFill>
              </a:rPr>
              <a:t>•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24128" y="1901952"/>
            <a:ext cx="6839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qualitative comparative approach was used with policy analysis and platform comparison </a:t>
            </a:r>
            <a:r>
              <a:rPr lang="en-US" sz="17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822960" y="2414016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dirty="0">
                <a:solidFill>
                  <a:srgbClr val="FFFFFF"/>
                </a:solidFill>
              </a:rPr>
              <a:t>•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24128" y="2414016"/>
            <a:ext cx="6839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Findings show large-scale collection of behavioral, personal and technical data </a:t>
            </a:r>
            <a:r>
              <a:rPr lang="en-US" sz="17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7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822960" y="2926080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dirty="0">
                <a:solidFill>
                  <a:srgbClr val="FFFFFF"/>
                </a:solidFill>
              </a:rPr>
              <a:t>•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24128" y="2926080"/>
            <a:ext cx="6839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practices enable profiling, targeted advertising and broader cybersecurity risk </a:t>
            </a:r>
            <a:r>
              <a:rPr lang="en-US" sz="17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7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822960" y="3438144"/>
            <a:ext cx="164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50" dirty="0">
                <a:solidFill>
                  <a:srgbClr val="FFFFFF"/>
                </a:solidFill>
              </a:rPr>
              <a:t>•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024128" y="3438144"/>
            <a:ext cx="6839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GDPR and CCPA improve transparency, but they do not fully restore user control </a:t>
            </a:r>
            <a:r>
              <a:rPr lang="en-US" sz="17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7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[8]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338328"/>
            <a:ext cx="23774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66928" y="850392"/>
            <a:ext cx="1325880" cy="45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</a:rPr>
              <a:t>Context for the research problem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417320"/>
            <a:ext cx="2834640" cy="1737360"/>
          </a:xfrm>
          <a:prstGeom prst="roundRect">
            <a:avLst>
              <a:gd name="adj" fmla="val 4211"/>
            </a:avLst>
          </a:prstGeom>
          <a:solidFill>
            <a:srgbClr val="102E59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283464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05256" y="152704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Why social media matters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41832" y="1837943"/>
            <a:ext cx="2505456" cy="123776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r>
              <a:rPr lang="en-US" sz="1500" dirty="0">
                <a:solidFill>
                  <a:srgbClr val="FFFFFF"/>
                </a:solidFill>
              </a:rPr>
              <a:t>Social communication and daily interaction, and they </a:t>
            </a:r>
            <a:r>
              <a:rPr lang="en-US" sz="1500" dirty="0" err="1">
                <a:solidFill>
                  <a:srgbClr val="FFFFFF"/>
                </a:solidFill>
              </a:rPr>
              <a:t>relymedia</a:t>
            </a:r>
            <a:r>
              <a:rPr lang="en-US" sz="1500" dirty="0">
                <a:solidFill>
                  <a:srgbClr val="FFFFFF"/>
                </a:solidFill>
              </a:rPr>
              <a:t> platforms have become central to  heavily on personal data to personalize content, increase engagement and generate revenue </a:t>
            </a:r>
            <a:r>
              <a:rPr lang="en-US" sz="15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0" y="1417320"/>
            <a:ext cx="2834640" cy="1737360"/>
          </a:xfrm>
          <a:prstGeom prst="roundRect">
            <a:avLst>
              <a:gd name="adj" fmla="val 4211"/>
            </a:avLst>
          </a:prstGeom>
          <a:solidFill>
            <a:srgbClr val="102E59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0" y="1417320"/>
            <a:ext cx="283464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42816" y="152704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Why privacy risk grows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79392" y="1837944"/>
            <a:ext cx="2505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Large-scale data collection combines with complex algorithms and third-party integrations, increasing exposure to misuse, identity theft and data breaches </a:t>
            </a:r>
            <a:r>
              <a:rPr lang="en-US" sz="15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5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7240" y="3611880"/>
            <a:ext cx="2834640" cy="1737360"/>
          </a:xfrm>
          <a:prstGeom prst="roundRect">
            <a:avLst>
              <a:gd name="adj" fmla="val 4211"/>
            </a:avLst>
          </a:prstGeom>
          <a:solidFill>
            <a:srgbClr val="102E59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7240" y="3611880"/>
            <a:ext cx="283464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05256" y="372160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 awareness gap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41832" y="4032504"/>
            <a:ext cx="2505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Many users do not fully understand what data is collected, how it is used or how long it is retained </a:t>
            </a:r>
            <a:r>
              <a:rPr lang="en-US" sz="15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114800" y="3611880"/>
            <a:ext cx="2834640" cy="1737360"/>
          </a:xfrm>
          <a:prstGeom prst="roundRect">
            <a:avLst>
              <a:gd name="adj" fmla="val 4211"/>
            </a:avLst>
          </a:prstGeom>
          <a:solidFill>
            <a:srgbClr val="102E59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0" y="3611880"/>
            <a:ext cx="283464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242816" y="3721608"/>
            <a:ext cx="2578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Research problem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79392" y="4032504"/>
            <a:ext cx="2505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Platforms collect extensive user data with limited transparency and limited user control, creating both privacy and cybersecurity risks </a:t>
            </a:r>
            <a:r>
              <a:rPr lang="en-US" sz="15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[7]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338328"/>
            <a:ext cx="23774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Objectives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66928" y="850392"/>
            <a:ext cx="1325880" cy="45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</a:rPr>
              <a:t>What the presentation is designed to answer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41248" y="1435608"/>
            <a:ext cx="164592" cy="16459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" y="1408176"/>
            <a:ext cx="91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43000" y="140817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Analyze data collection practices across major platforms </a:t>
            </a:r>
            <a:r>
              <a:rPr lang="en-US" sz="16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6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" y="2048256"/>
            <a:ext cx="164592" cy="16459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77824" y="2020824"/>
            <a:ext cx="91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43000" y="20208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Examine how algorithms process user behavior </a:t>
            </a:r>
            <a:r>
              <a:rPr lang="en-US" sz="16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41248" y="2660904"/>
            <a:ext cx="164592" cy="16459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77824" y="2633472"/>
            <a:ext cx="91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43000" y="26334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Evaluate third-party data sharing </a:t>
            </a:r>
            <a:r>
              <a:rPr lang="en-US" sz="16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1248" y="3273552"/>
            <a:ext cx="164592" cy="16459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7824" y="3246120"/>
            <a:ext cx="91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43000" y="3246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Identify key cybersecurity risks </a:t>
            </a:r>
            <a:r>
              <a:rPr lang="en-US" sz="16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6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[7]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1248" y="3886200"/>
            <a:ext cx="164592" cy="164592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7824" y="3858768"/>
            <a:ext cx="91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43000" y="38587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Assess the effectiveness of current regulations </a:t>
            </a:r>
            <a:r>
              <a:rPr lang="en-US" sz="16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6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[8]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629400" y="1572768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102E59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629400" y="1572768"/>
            <a:ext cx="265176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57416" y="1682496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Approach in one line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1956816"/>
            <a:ext cx="22860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A qualitative comparative analysis was selected because privacy policies require interpretation and internal platform data is not publicly accessible </a:t>
            </a:r>
            <a:r>
              <a:rPr lang="en-US" sz="15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629400" y="406908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02E59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629400" y="4069080"/>
            <a:ext cx="265176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57416" y="4178808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inputs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12280" y="4443984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</a:rPr>
              <a:t>Privacy policies </a:t>
            </a:r>
            <a:r>
              <a:rPr lang="en-US" sz="145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</a:rPr>
              <a:t>Academic literature </a:t>
            </a:r>
            <a:endParaRPr lang="en-US" sz="1450" dirty="0"/>
          </a:p>
          <a:p>
            <a:pPr marL="0" indent="0">
              <a:buNone/>
            </a:pPr>
            <a:r>
              <a:rPr lang="en-US" sz="145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45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[7]</a:t>
            </a:r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45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</a:t>
            </a:r>
            <a:endParaRPr lang="en-US" sz="1450" dirty="0"/>
          </a:p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</a:rPr>
              <a:t>Regulatory frameworks </a:t>
            </a:r>
            <a:endParaRPr lang="en-US" sz="1450" dirty="0"/>
          </a:p>
          <a:p>
            <a:pPr marL="0" indent="0">
              <a:buNone/>
            </a:pPr>
            <a:r>
              <a:rPr lang="en-US" sz="145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45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endParaRPr lang="en-US" sz="14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338328"/>
            <a:ext cx="23774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1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Methodology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66928" y="850392"/>
            <a:ext cx="1325880" cy="45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</a:rPr>
              <a:t>Research design, analytical framework and procedure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2057400" cy="1463040"/>
          </a:xfrm>
          <a:prstGeom prst="roundRect">
            <a:avLst>
              <a:gd name="adj" fmla="val 5000"/>
            </a:avLst>
          </a:prstGeom>
          <a:solidFill>
            <a:srgbClr val="102E59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205740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13816" y="1527048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Research 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3816" y="182880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Qualitative comparative analysis </a:t>
            </a:r>
            <a:r>
              <a:rPr lang="en-US" sz="14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035808" y="1417320"/>
            <a:ext cx="2057400" cy="1463040"/>
          </a:xfrm>
          <a:prstGeom prst="roundRect">
            <a:avLst>
              <a:gd name="adj" fmla="val 5000"/>
            </a:avLst>
          </a:prstGeom>
          <a:solidFill>
            <a:srgbClr val="102E59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035808" y="1417320"/>
            <a:ext cx="205740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63824" y="1527048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sources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63824" y="182880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Policies, academic literature and regulatory frameworks </a:t>
            </a:r>
            <a:r>
              <a:rPr lang="en-US" sz="14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4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4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4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4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[7]</a:t>
            </a: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4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85816" y="1417320"/>
            <a:ext cx="2057400" cy="1463040"/>
          </a:xfrm>
          <a:prstGeom prst="roundRect">
            <a:avLst>
              <a:gd name="adj" fmla="val 5000"/>
            </a:avLst>
          </a:prstGeom>
          <a:solidFill>
            <a:srgbClr val="102E59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385816" y="1417320"/>
            <a:ext cx="205740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13832" y="1527048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Framework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513832" y="182880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Content analysis, comparison, risk mapping and scoring </a:t>
            </a:r>
            <a:r>
              <a:rPr lang="en-US" sz="14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4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35824" y="1417320"/>
            <a:ext cx="2057400" cy="1463040"/>
          </a:xfrm>
          <a:prstGeom prst="roundRect">
            <a:avLst>
              <a:gd name="adj" fmla="val 5000"/>
            </a:avLst>
          </a:prstGeom>
          <a:solidFill>
            <a:srgbClr val="102E59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735824" y="1417320"/>
            <a:ext cx="205740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63840" y="1527048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Classification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63840" y="1828800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Personal, behavioral, device, location and inferred data </a:t>
            </a:r>
            <a:r>
              <a:rPr lang="en-US" sz="14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13232" y="33101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Procedure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9808" y="367588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•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" y="3675888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</a:rPr>
              <a:t>Select platforms: Facebook, Instagram, TikTok, X and Snapchat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49808" y="409651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•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" y="4096512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</a:rPr>
              <a:t>Extract data types, uses and sharing patterns </a:t>
            </a:r>
            <a:r>
              <a:rPr lang="en-US" sz="155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55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49808" y="451713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•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0120" y="4517136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</a:rPr>
              <a:t>Classify data using defined categories </a:t>
            </a:r>
            <a:r>
              <a:rPr lang="en-US" sz="155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49808" y="493776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•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60120" y="4937760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</a:rPr>
              <a:t>Compare platforms and map risks </a:t>
            </a:r>
            <a:r>
              <a:rPr lang="en-US" sz="155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r>
              <a:rPr lang="en-US" sz="15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55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749808" y="535838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•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0120" y="5358384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</a:rPr>
              <a:t>Score risks using likelihood × impact </a:t>
            </a:r>
            <a:r>
              <a:rPr lang="en-US" sz="155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endParaRPr lang="en-US" sz="15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338328"/>
            <a:ext cx="23774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Platform-Wise Findings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66928" y="850392"/>
            <a:ext cx="1325880" cy="45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</a:rPr>
              <a:t>How major platforms collect data and where the biggest risks appear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" y="1408176"/>
            <a:ext cx="2240280" cy="1920240"/>
          </a:xfrm>
          <a:prstGeom prst="roundRect">
            <a:avLst>
              <a:gd name="adj" fmla="val 3810"/>
            </a:avLst>
          </a:prstGeom>
          <a:solidFill>
            <a:srgbClr val="102E59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58368" y="1408176"/>
            <a:ext cx="224028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86384" y="1517904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Facebook / Instagram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792224"/>
            <a:ext cx="19933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</a:rPr>
              <a:t>Data: personal details, browsing habits, device and location data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</a:rPr>
              <a:t>Use: personalization, ads, engagement tracking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</a:rPr>
              <a:t>Risk: cross-platform tracking and detailed profiling </a:t>
            </a:r>
            <a:endParaRPr lang="en-US" sz="1320" dirty="0"/>
          </a:p>
          <a:p>
            <a:pPr marL="0" indent="0">
              <a:buNone/>
            </a:pPr>
            <a:r>
              <a:rPr lang="en-US" sz="132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endParaRPr lang="en-US" sz="1320" dirty="0"/>
          </a:p>
        </p:txBody>
      </p:sp>
      <p:sp>
        <p:nvSpPr>
          <p:cNvPr id="9" name="Shape 7"/>
          <p:cNvSpPr/>
          <p:nvPr/>
        </p:nvSpPr>
        <p:spPr>
          <a:xfrm>
            <a:off x="3273552" y="1408176"/>
            <a:ext cx="2240280" cy="1920240"/>
          </a:xfrm>
          <a:prstGeom prst="roundRect">
            <a:avLst>
              <a:gd name="adj" fmla="val 3810"/>
            </a:avLst>
          </a:prstGeom>
          <a:solidFill>
            <a:srgbClr val="102E59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73552" y="1408176"/>
            <a:ext cx="224028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01568" y="1517904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X / Twitter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92424" y="1792224"/>
            <a:ext cx="19933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</a:rPr>
              <a:t>Data: posts, device signals, interaction patterns, account activity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</a:rPr>
              <a:t>Use: feed ranking and engagement analysis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</a:rPr>
              <a:t>Risk: public data aggregation and inferred interests </a:t>
            </a:r>
            <a:endParaRPr lang="en-US" sz="1320" dirty="0"/>
          </a:p>
          <a:p>
            <a:pPr marL="0" indent="0">
              <a:buNone/>
            </a:pPr>
            <a:r>
              <a:rPr lang="en-US" sz="132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5888736" y="1408176"/>
            <a:ext cx="2240280" cy="1920240"/>
          </a:xfrm>
          <a:prstGeom prst="roundRect">
            <a:avLst>
              <a:gd name="adj" fmla="val 3810"/>
            </a:avLst>
          </a:prstGeom>
          <a:solidFill>
            <a:srgbClr val="102E59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888736" y="1408176"/>
            <a:ext cx="224028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16752" y="1517904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TikTok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07608" y="1792224"/>
            <a:ext cx="19933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</a:rPr>
              <a:t>Data: watch time, search activity, device settings and usage patterns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</a:rPr>
              <a:t>Use: algorithmic personalization and prediction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</a:rPr>
              <a:t>Risk: opaque behavioral profiling and cross-device tracking </a:t>
            </a:r>
            <a:endParaRPr lang="en-US" sz="1320" dirty="0"/>
          </a:p>
          <a:p>
            <a:pPr marL="0" indent="0">
              <a:buNone/>
            </a:pPr>
            <a:r>
              <a:rPr lang="en-US" sz="132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13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32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8503920" y="1408176"/>
            <a:ext cx="2240280" cy="1920240"/>
          </a:xfrm>
          <a:prstGeom prst="roundRect">
            <a:avLst>
              <a:gd name="adj" fmla="val 3810"/>
            </a:avLst>
          </a:prstGeom>
          <a:solidFill>
            <a:srgbClr val="102E59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503920" y="1408176"/>
            <a:ext cx="224028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31936" y="1517904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Snapchat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22792" y="1792224"/>
            <a:ext cx="199339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</a:rPr>
              <a:t>Data: usernames, contacts, location and communication timing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</a:rPr>
              <a:t>Use: feature support and location-based functions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FFFFFF"/>
                </a:solidFill>
              </a:rPr>
              <a:t>Risk: location exposure and metadata retention </a:t>
            </a:r>
            <a:endParaRPr lang="en-US" sz="1320" dirty="0"/>
          </a:p>
          <a:p>
            <a:pPr marL="0" indent="0">
              <a:buNone/>
            </a:pPr>
            <a:r>
              <a:rPr lang="en-US" sz="132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841248" y="39776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Cross-platform pattern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1248" y="42976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Even though platforms look different, their privacy issues are similar: excessive data collection, profiling, third-party sharing and possible exposure through security vulnerabilities. The core issue is the extent of collection, not just its existence </a:t>
            </a:r>
            <a:r>
              <a:rPr lang="en-US" sz="15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5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5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338328"/>
            <a:ext cx="23774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1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Privacy &amp; Cybersecurity Risks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66928" y="850392"/>
            <a:ext cx="1325880" cy="45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</a:rPr>
              <a:t>The main categories identified in the study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463040"/>
            <a:ext cx="2743200" cy="1481328"/>
          </a:xfrm>
          <a:prstGeom prst="roundRect">
            <a:avLst>
              <a:gd name="adj" fmla="val 4938"/>
            </a:avLst>
          </a:prstGeom>
          <a:solidFill>
            <a:srgbClr val="102E59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463040"/>
            <a:ext cx="274320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13816" y="157276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Excessive data collection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3816" y="1847088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410" dirty="0">
                <a:solidFill>
                  <a:srgbClr val="FFFFFF"/>
                </a:solidFill>
              </a:rPr>
              <a:t>Platforms collect more personal and behavioral data than users usually expect, creating overexposure and detailed personal records </a:t>
            </a:r>
            <a:r>
              <a:rPr lang="en-US" sz="141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endParaRPr lang="en-US" sz="1410" dirty="0"/>
          </a:p>
        </p:txBody>
      </p:sp>
      <p:sp>
        <p:nvSpPr>
          <p:cNvPr id="9" name="Shape 7"/>
          <p:cNvSpPr/>
          <p:nvPr/>
        </p:nvSpPr>
        <p:spPr>
          <a:xfrm>
            <a:off x="3968496" y="1463040"/>
            <a:ext cx="2743200" cy="1481328"/>
          </a:xfrm>
          <a:prstGeom prst="roundRect">
            <a:avLst>
              <a:gd name="adj" fmla="val 4938"/>
            </a:avLst>
          </a:prstGeom>
          <a:solidFill>
            <a:srgbClr val="102E59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968496" y="1463040"/>
            <a:ext cx="274320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96512" y="157276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Algorithmic profiling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96512" y="1847088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dirty="0">
                <a:solidFill>
                  <a:srgbClr val="FFFFFF"/>
                </a:solidFill>
              </a:rPr>
              <a:t>User behavior is analyzed to predict preferences and patterns, leading to hidden profiling and unfair influence </a:t>
            </a:r>
            <a:r>
              <a:rPr lang="en-US" sz="141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</a:t>
            </a:r>
            <a:endParaRPr lang="en-US" sz="1410" dirty="0"/>
          </a:p>
        </p:txBody>
      </p:sp>
      <p:sp>
        <p:nvSpPr>
          <p:cNvPr id="13" name="Shape 11"/>
          <p:cNvSpPr/>
          <p:nvPr/>
        </p:nvSpPr>
        <p:spPr>
          <a:xfrm>
            <a:off x="7251192" y="1463040"/>
            <a:ext cx="2743200" cy="1481328"/>
          </a:xfrm>
          <a:prstGeom prst="roundRect">
            <a:avLst>
              <a:gd name="adj" fmla="val 4938"/>
            </a:avLst>
          </a:prstGeom>
          <a:solidFill>
            <a:srgbClr val="102E59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251192" y="1463040"/>
            <a:ext cx="274320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79208" y="1572768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Third-party data sharing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79208" y="1847088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dirty="0">
                <a:solidFill>
                  <a:srgbClr val="FFFFFF"/>
                </a:solidFill>
              </a:rPr>
              <a:t>Data is shared with advertisers, service providers and partners, reducing control and increasing exposure </a:t>
            </a:r>
            <a:r>
              <a:rPr lang="en-US" sz="141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endParaRPr lang="en-US" sz="1410" dirty="0"/>
          </a:p>
        </p:txBody>
      </p:sp>
      <p:sp>
        <p:nvSpPr>
          <p:cNvPr id="17" name="Shape 15"/>
          <p:cNvSpPr/>
          <p:nvPr/>
        </p:nvSpPr>
        <p:spPr>
          <a:xfrm>
            <a:off x="685800" y="3493008"/>
            <a:ext cx="2743200" cy="1481328"/>
          </a:xfrm>
          <a:prstGeom prst="roundRect">
            <a:avLst>
              <a:gd name="adj" fmla="val 4938"/>
            </a:avLst>
          </a:prstGeom>
          <a:solidFill>
            <a:srgbClr val="102E59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5800" y="3493008"/>
            <a:ext cx="274320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13816" y="360273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breach / unauthorized access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3816" y="3877056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10" dirty="0">
                <a:solidFill>
                  <a:srgbClr val="FFFFFF"/>
                </a:solidFill>
              </a:rPr>
              <a:t>Weak systems can expose stored data to unauthorized parties, causing identity theft, scams and reputational harm </a:t>
            </a:r>
            <a:r>
              <a:rPr lang="en-US" sz="141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[7]</a:t>
            </a:r>
            <a:endParaRPr lang="en-US" sz="1410" dirty="0"/>
          </a:p>
        </p:txBody>
      </p:sp>
      <p:sp>
        <p:nvSpPr>
          <p:cNvPr id="21" name="Shape 19"/>
          <p:cNvSpPr/>
          <p:nvPr/>
        </p:nvSpPr>
        <p:spPr>
          <a:xfrm>
            <a:off x="3968496" y="3493008"/>
            <a:ext cx="2743200" cy="1481328"/>
          </a:xfrm>
          <a:prstGeom prst="roundRect">
            <a:avLst>
              <a:gd name="adj" fmla="val 4938"/>
            </a:avLst>
          </a:prstGeom>
          <a:solidFill>
            <a:srgbClr val="102E59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968496" y="3493008"/>
            <a:ext cx="274320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96512" y="360273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Weak meaningful consent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096512" y="3877056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dirty="0">
                <a:solidFill>
                  <a:srgbClr val="FFFFFF"/>
                </a:solidFill>
              </a:rPr>
              <a:t>Users often accept privacy terms without fully understanding what is being collected or why </a:t>
            </a:r>
            <a:r>
              <a:rPr lang="en-US" sz="141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</a:t>
            </a:r>
            <a:endParaRPr lang="en-US" sz="1410" dirty="0"/>
          </a:p>
        </p:txBody>
      </p:sp>
      <p:sp>
        <p:nvSpPr>
          <p:cNvPr id="25" name="Shape 23"/>
          <p:cNvSpPr/>
          <p:nvPr/>
        </p:nvSpPr>
        <p:spPr>
          <a:xfrm>
            <a:off x="7251192" y="3493008"/>
            <a:ext cx="2743200" cy="1481328"/>
          </a:xfrm>
          <a:prstGeom prst="roundRect">
            <a:avLst>
              <a:gd name="adj" fmla="val 4938"/>
            </a:avLst>
          </a:prstGeom>
          <a:solidFill>
            <a:srgbClr val="102E59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251192" y="3493008"/>
            <a:ext cx="274320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79208" y="360273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Long-term privacy harm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79208" y="3877056"/>
            <a:ext cx="2487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10" dirty="0">
                <a:solidFill>
                  <a:srgbClr val="FFFFFF"/>
                </a:solidFill>
              </a:rPr>
              <a:t>Ongoing data accumulation can create permanent profiling, long-term surveillance and future decision impacts </a:t>
            </a:r>
            <a:r>
              <a:rPr lang="en-US" sz="141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[7]</a:t>
            </a:r>
            <a:endParaRPr lang="en-US" sz="141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338328"/>
            <a:ext cx="23774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1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 &amp; Discussion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66928" y="850392"/>
            <a:ext cx="1325880" cy="45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</a:rPr>
              <a:t>What the findings mean for users and regulators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481328"/>
            <a:ext cx="4480560" cy="3474720"/>
          </a:xfrm>
          <a:prstGeom prst="roundRect">
            <a:avLst>
              <a:gd name="adj" fmla="val 2105"/>
            </a:avLst>
          </a:prstGeom>
          <a:solidFill>
            <a:srgbClr val="102E59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1481328"/>
            <a:ext cx="448056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9536" y="1591056"/>
            <a:ext cx="4224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1481328"/>
            <a:ext cx="4937760" cy="3474720"/>
          </a:xfrm>
          <a:prstGeom prst="roundRect">
            <a:avLst>
              <a:gd name="adj" fmla="val 2105"/>
            </a:avLst>
          </a:prstGeom>
          <a:solidFill>
            <a:srgbClr val="102E59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577840" y="1481328"/>
            <a:ext cx="493776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705856" y="1591056"/>
            <a:ext cx="4681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Discussion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193852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52144" y="1938528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Behavioral data dominates platform tracking and reflects continuous monitoring of user activity </a:t>
            </a:r>
            <a:r>
              <a:rPr lang="en-US" sz="16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2688" y="268833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•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52144" y="2688336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Major risks cluster around profiling, third-party sharing and breaches </a:t>
            </a:r>
            <a:r>
              <a:rPr lang="en-US" sz="16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6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2688" y="343814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•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52144" y="3438144"/>
            <a:ext cx="37307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Platforms prioritize behavior prediction and monetization over privacy </a:t>
            </a:r>
            <a:r>
              <a:rPr lang="en-US" sz="16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6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79008" y="193852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98464" y="193852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There is a clear imbalance between user privacy and platform business models </a:t>
            </a:r>
            <a:r>
              <a:rPr lang="en-US" sz="16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79008" y="268833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•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998464" y="268833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Privacy policies can satisfy legal disclosure requirements without producing real user understanding </a:t>
            </a:r>
            <a:r>
              <a:rPr lang="en-US" sz="16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79008" y="343814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•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998464" y="343814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GDPR and CCPA improve transparency, but enforcement gaps remain and privacy often stays secondary to engagement goals </a:t>
            </a:r>
            <a:r>
              <a:rPr lang="en-US" sz="16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6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r>
              <a:rPr lang="en-US" sz="16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6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[8]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338328"/>
            <a:ext cx="23774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1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Directions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66928" y="850392"/>
            <a:ext cx="1325880" cy="45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</a:rPr>
              <a:t>Practical measures proposed by the report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" y="141732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163B6E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49047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FFFFFF"/>
                </a:solidFill>
              </a:rPr>
              <a:t>Stronger data minimization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2926080" y="1453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</a:rPr>
              <a:t>Limit collection to what is strictly necessary to reduce unnecessary exposure and lower breach risk </a:t>
            </a:r>
            <a:r>
              <a:rPr lang="en-US" sz="152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endParaRPr lang="en-US" sz="1520" dirty="0"/>
          </a:p>
        </p:txBody>
      </p:sp>
      <p:sp>
        <p:nvSpPr>
          <p:cNvPr id="8" name="Shape 6"/>
          <p:cNvSpPr/>
          <p:nvPr/>
        </p:nvSpPr>
        <p:spPr>
          <a:xfrm>
            <a:off x="868680" y="2130552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163B6E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220370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FFFFFF"/>
                </a:solidFill>
              </a:rPr>
              <a:t>Simpler privacy notices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2926080" y="21671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</a:rPr>
              <a:t>Use plain language so users understand data collection, use, storage and access </a:t>
            </a:r>
            <a:r>
              <a:rPr lang="en-US" sz="152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868680" y="2843784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163B6E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05840" y="291693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FFFFFF"/>
                </a:solidFill>
              </a:rPr>
              <a:t>Better user control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2926080" y="28803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</a:rPr>
              <a:t>Make privacy settings easy to find and configure </a:t>
            </a:r>
            <a:r>
              <a:rPr lang="en-US" sz="152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868680" y="3557016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163B6E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05840" y="36301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FFFFFF"/>
                </a:solidFill>
              </a:rPr>
              <a:t>Reduced third-party exposure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2926080" y="35935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</a:rPr>
              <a:t>Share less information with outside companies to improve accountability </a:t>
            </a:r>
            <a:r>
              <a:rPr lang="en-US" sz="152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868680" y="4270248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163B6E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05840" y="434340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FFFFFF"/>
                </a:solidFill>
              </a:rPr>
              <a:t>Privacy by design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2926080" y="43068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</a:rPr>
              <a:t>Build privacy protections into defaults, architecture and encryption choices </a:t>
            </a:r>
            <a:r>
              <a:rPr lang="en-US" sz="152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868680" y="498348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163B6E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05840" y="505663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FFFFFF"/>
                </a:solidFill>
              </a:rPr>
              <a:t>Stronger governance + transparency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2926080" y="502005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520" dirty="0">
                <a:solidFill>
                  <a:srgbClr val="FFFFFF"/>
                </a:solidFill>
              </a:rPr>
              <a:t>Improve internal controls and explain how recommendation and targeting systems work </a:t>
            </a:r>
            <a:r>
              <a:rPr lang="en-US" sz="152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</a:t>
            </a:r>
            <a:r>
              <a:rPr lang="en-US" sz="15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52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r>
              <a:rPr lang="en-US" sz="152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52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</a:t>
            </a:r>
            <a:endParaRPr lang="en-US" sz="15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338328"/>
            <a:ext cx="23774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488"/>
            <a:ext cx="6217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66928" y="850392"/>
            <a:ext cx="1325880" cy="4572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</a:rPr>
              <a:t>Final message from the study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" y="1481328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102E59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1481328"/>
            <a:ext cx="269748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96696" y="1591056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1. Collection is extensive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14984" y="1883664"/>
            <a:ext cx="239572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Social media platforms collect large volumes of data that exceed the expectations of the average user </a:t>
            </a:r>
            <a:r>
              <a:rPr lang="en-US" sz="15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041648" y="1481328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102E59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041648" y="1481328"/>
            <a:ext cx="269748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69664" y="1591056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2. Risk is structural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87952" y="1883664"/>
            <a:ext cx="239572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Privacy harms go beyond breaches to include profiling, weak consent and long-term surveillance effects </a:t>
            </a:r>
            <a:r>
              <a:rPr lang="en-US" sz="15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</a:t>
            </a: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5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[7]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214616" y="1481328"/>
            <a:ext cx="2697480" cy="2331720"/>
          </a:xfrm>
          <a:prstGeom prst="roundRect">
            <a:avLst>
              <a:gd name="adj" fmla="val 3137"/>
            </a:avLst>
          </a:prstGeom>
          <a:solidFill>
            <a:srgbClr val="102E59"/>
          </a:solidFill>
          <a:ln w="12700">
            <a:solidFill>
              <a:srgbClr val="4162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214616" y="1481328"/>
            <a:ext cx="2697480" cy="36576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42632" y="1591056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3. Compliance is not enough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60920" y="1883664"/>
            <a:ext cx="239572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Stronger protection requires privacy to be embedded in system design, controls and day-to-day data management </a:t>
            </a:r>
            <a:r>
              <a:rPr lang="en-US" sz="15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</a:t>
            </a: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500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8096" y="437083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Reference links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8096" y="4700016"/>
            <a:ext cx="1042416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u="sng" dirty="0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 </a:t>
            </a:r>
            <a:r>
              <a:rPr lang="en-US" sz="1150" dirty="0">
                <a:solidFill>
                  <a:srgbClr val="D8E1F0"/>
                </a:solidFill>
              </a:rPr>
              <a:t>doi.org   </a:t>
            </a:r>
            <a:r>
              <a:rPr lang="en-US" sz="1150" b="1" u="sng" dirty="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[2] </a:t>
            </a:r>
            <a:r>
              <a:rPr lang="en-US" sz="1150" dirty="0">
                <a:solidFill>
                  <a:srgbClr val="D8E1F0"/>
                </a:solidFill>
              </a:rPr>
              <a:t>eur-lex.europa.eu   </a:t>
            </a:r>
            <a:r>
              <a:rPr lang="en-US" sz="1150" b="1" u="sng" dirty="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[3] </a:t>
            </a:r>
            <a:r>
              <a:rPr lang="en-US" sz="1150" dirty="0">
                <a:solidFill>
                  <a:srgbClr val="D8E1F0"/>
                </a:solidFill>
              </a:rPr>
              <a:t>www.ftc.gov   </a:t>
            </a:r>
            <a:r>
              <a:rPr lang="en-US" sz="1150" b="1" u="sng" dirty="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 </a:t>
            </a:r>
            <a:r>
              <a:rPr lang="en-US" sz="1150" dirty="0">
                <a:solidFill>
                  <a:srgbClr val="D8E1F0"/>
                </a:solidFill>
              </a:rPr>
              <a:t>nvlpubs.nist.gov   </a:t>
            </a:r>
            <a:r>
              <a:rPr lang="en-US" sz="1150" b="1" u="sng" dirty="0">
                <a:solidFill>
                  <a:srgbClr val="FFFFFF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[5] </a:t>
            </a:r>
            <a:r>
              <a:rPr lang="en-US" sz="1150" dirty="0">
                <a:solidFill>
                  <a:srgbClr val="D8E1F0"/>
                </a:solidFill>
              </a:rPr>
              <a:t>web-archive.oecd.org   </a:t>
            </a:r>
            <a:r>
              <a:rPr lang="en-US" sz="1150" b="1" u="sng" dirty="0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[6] </a:t>
            </a:r>
            <a:r>
              <a:rPr lang="en-US" sz="1150" dirty="0">
                <a:solidFill>
                  <a:srgbClr val="D8E1F0"/>
                </a:solidFill>
              </a:rPr>
              <a:t>www.pewresearch.org   </a:t>
            </a:r>
            <a:r>
              <a:rPr lang="en-US" sz="1150" b="1" u="sng" dirty="0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[7] </a:t>
            </a:r>
            <a:r>
              <a:rPr lang="en-US" sz="1150" dirty="0">
                <a:solidFill>
                  <a:srgbClr val="D8E1F0"/>
                </a:solidFill>
              </a:rPr>
              <a:t>scholarship.law.upenn.edu   </a:t>
            </a:r>
            <a:r>
              <a:rPr lang="en-US" sz="1150" b="1" u="sng" dirty="0">
                <a:solidFill>
                  <a:srgbClr val="FFFFFF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[8] </a:t>
            </a:r>
            <a:r>
              <a:rPr lang="en-US" sz="1150" dirty="0">
                <a:solidFill>
                  <a:srgbClr val="D8E1F0"/>
                </a:solidFill>
              </a:rPr>
              <a:t>leginfo.legislature.ca.gov   </a:t>
            </a:r>
            <a:r>
              <a:rPr lang="en-US" sz="1150" b="1" u="sng" dirty="0">
                <a:solidFill>
                  <a:srgbClr val="FFFFFF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[9] </a:t>
            </a:r>
            <a:r>
              <a:rPr lang="en-US" sz="1150" dirty="0">
                <a:solidFill>
                  <a:srgbClr val="D8E1F0"/>
                </a:solidFill>
              </a:rPr>
              <a:t>ojs.aaai.org   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45952" y="338328"/>
            <a:ext cx="237744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3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1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1956</Words>
  <Application>Microsoft Office PowerPoint</Application>
  <PresentationFormat>Widescreen</PresentationFormat>
  <Paragraphs>192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Privacy Concerns on Social Media</dc:title>
  <dc:subject>Data Privacy Concerns on Social Media</dc:subject>
  <dc:creator>OpenAI</dc:creator>
  <cp:lastModifiedBy>Anshuman Kush</cp:lastModifiedBy>
  <cp:revision>2</cp:revision>
  <dcterms:created xsi:type="dcterms:W3CDTF">2026-04-04T05:07:41Z</dcterms:created>
  <dcterms:modified xsi:type="dcterms:W3CDTF">2026-04-04T05:14:58Z</dcterms:modified>
</cp:coreProperties>
</file>